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FB7A8-C397-6B49-8D15-28DD0E5063BB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EB354-575D-7146-9763-3E213AF52D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5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B354-575D-7146-9763-3E213AF52D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01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B354-575D-7146-9763-3E213AF52D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2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B354-575D-7146-9763-3E213AF52D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27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3B82F6"/>
                </a:solidFill>
              </a:rPr>
              <a:t>AIOps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</a:rPr>
              <a:t>Agentic AI Driven Operations Platform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0" y="1005840"/>
            <a:ext cx="3474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11155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783080"/>
            <a:ext cx="347472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8928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Incidents &amp; Alerts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560320"/>
            <a:ext cx="3474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6700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 RCA &amp; Remediation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337560"/>
            <a:ext cx="3474720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3447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Graph Topology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114800"/>
            <a:ext cx="34747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4224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Predictions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892040"/>
            <a:ext cx="347472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50017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Fleet 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</a:rPr>
              <a:t>April 2026  ·  v1.0  ·  Phase 1 Complete</a:t>
            </a:r>
            <a:r>
              <a:rPr lang="en-US" sz="1100" b="0" i="0" dirty="0">
                <a:solidFill>
                  <a:srgbClr val="64748B"/>
                </a:solidFill>
              </a:rPr>
              <a:t>d</a:t>
            </a:r>
            <a:endParaRPr sz="1100" b="0" i="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CBD5E1"/>
                </a:solidFill>
              </a:rPr>
              <a:t>A</a:t>
            </a:r>
            <a:r>
              <a:rPr lang="en-US" sz="1500" b="0" i="0" dirty="0">
                <a:solidFill>
                  <a:srgbClr val="CBD5E1"/>
                </a:solidFill>
              </a:rPr>
              <a:t>n</a:t>
            </a:r>
            <a:r>
              <a:rPr sz="1500" b="0" i="0" dirty="0">
                <a:solidFill>
                  <a:srgbClr val="CBD5E1"/>
                </a:solidFill>
              </a:rPr>
              <a:t> </a:t>
            </a:r>
            <a:r>
              <a:rPr lang="en-US" sz="1500" dirty="0">
                <a:solidFill>
                  <a:srgbClr val="CBD5E1"/>
                </a:solidFill>
              </a:rPr>
              <a:t>Open</a:t>
            </a:r>
            <a:r>
              <a:rPr sz="1500" b="0" i="0" dirty="0">
                <a:solidFill>
                  <a:srgbClr val="CBD5E1"/>
                </a:solidFill>
              </a:rPr>
              <a:t>-stack AIOps platform in a single deployable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874519"/>
            <a:ext cx="3749039" cy="1920240"/>
          </a:xfrm>
          <a:prstGeom prst="rect">
            <a:avLst/>
          </a:prstGeom>
          <a:solidFill>
            <a:srgbClr val="131C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874519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116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🔭  Unified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59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Applications, services, incidents, alerts, predictions, and topology in one React control plane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9892" y="1874519"/>
            <a:ext cx="3749039" cy="1920240"/>
          </a:xfrm>
          <a:prstGeom prst="rect">
            <a:avLst/>
          </a:prstGeom>
          <a:solidFill>
            <a:srgbClr val="131C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39" y="1874519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2011679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🤖  AI-Guided </a:t>
            </a:r>
            <a:r>
              <a:rPr lang="en-US" sz="1300" b="1" i="0" dirty="0">
                <a:solidFill>
                  <a:srgbClr val="FFFFFF"/>
                </a:solidFill>
              </a:rPr>
              <a:t>Remediation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43399" y="2423159"/>
            <a:ext cx="34747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CBD5E1"/>
                </a:solidFill>
              </a:rPr>
              <a:t>LLM</a:t>
            </a:r>
            <a:r>
              <a:rPr sz="1100" b="0" i="0" dirty="0">
                <a:solidFill>
                  <a:srgbClr val="CBD5E1"/>
                </a:solidFill>
              </a:rPr>
              <a:t> integration for root cause analysis, diagnostic planning, remediation command generation</a:t>
            </a:r>
            <a:r>
              <a:rPr lang="en-US" sz="1100" b="0" i="0" dirty="0">
                <a:solidFill>
                  <a:srgbClr val="CBD5E1"/>
                </a:solidFill>
              </a:rPr>
              <a:t> with executions</a:t>
            </a:r>
            <a:endParaRPr sz="1100" b="0" i="0" dirty="0">
              <a:solidFill>
                <a:srgbClr val="CBD5E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83878" y="1874519"/>
            <a:ext cx="3749039" cy="1920240"/>
          </a:xfrm>
          <a:prstGeom prst="rect">
            <a:avLst/>
          </a:prstGeom>
          <a:solidFill>
            <a:srgbClr val="131C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8" y="1874519"/>
            <a:ext cx="3749039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8" y="20116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📡  Real-time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2423159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Prometheus metrics, Alertmanager webhooks, Elasticsearch logs, and Jaeger traces stitched together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977639"/>
            <a:ext cx="3749039" cy="1920240"/>
          </a:xfrm>
          <a:prstGeom prst="rect">
            <a:avLst/>
          </a:prstGeom>
          <a:solidFill>
            <a:srgbClr val="13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" y="3977639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11479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🛡️  Incident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526279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Auto-correlated incidents with timeline, blast radius, dependency graph, and resolution tracking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39" y="3977639"/>
            <a:ext cx="3749039" cy="1920240"/>
          </a:xfrm>
          <a:prstGeom prst="rect">
            <a:avLst/>
          </a:prstGeom>
          <a:solidFill>
            <a:srgbClr val="13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06239" y="3977639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43399" y="411479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🔮  Predictive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4526279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Heuristic risk scoring with 15-minute incident probability windows per 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8" y="3977639"/>
            <a:ext cx="3749039" cy="192024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8" y="3977639"/>
            <a:ext cx="3749039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38" y="411479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🗂️  Fleet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4526279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Linux target onboarding via SSH + PEM with telemetry profile selection and enrollment tokens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Docker Compose multi-service stack with AI 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" y="1920240"/>
            <a:ext cx="3749039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19476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920240"/>
            <a:ext cx="3749039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9476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CORE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920240"/>
            <a:ext cx="3017520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19476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377440"/>
            <a:ext cx="35661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035808"/>
            <a:ext cx="35661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31272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Alertmanager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694176"/>
            <a:ext cx="35661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7856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Elasticsearch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352544"/>
            <a:ext cx="35661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44439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Jaeger Traces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5010912"/>
            <a:ext cx="35661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51023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PostgreSQL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5669280"/>
            <a:ext cx="35661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5760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Redis Cache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377440"/>
            <a:ext cx="44805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2468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Django Web (Gunicorn)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035808"/>
            <a:ext cx="44805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31272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genai.views — Alert Ingest / RCA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694176"/>
            <a:ext cx="44805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43400" y="378561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genai.views — Fleet / Enroll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352544"/>
            <a:ext cx="44805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444398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Celery / Predictor Worker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5010912"/>
            <a:ext cx="44805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510235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</a:rPr>
              <a:t>OTel Collector → Jaeger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5669280"/>
            <a:ext cx="448056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43400" y="57607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DB-Agent + Control-Agent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2377440"/>
            <a:ext cx="301752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0" y="2468880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22C55E"/>
                </a:solidFill>
              </a:rPr>
              <a:t>React + Vite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3035808"/>
            <a:ext cx="301752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0" y="3127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Applications Page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3694176"/>
            <a:ext cx="301752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0" y="37856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Alerts / Incidents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4352544"/>
            <a:ext cx="301752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0" y="44439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Fleet / Enroll / Profiles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6840" y="5010912"/>
            <a:ext cx="301752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0" y="5102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</a:rPr>
              <a:t>Graph Topology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5669280"/>
            <a:ext cx="3017520" cy="502920"/>
          </a:xfrm>
          <a:prstGeom prst="rect">
            <a:avLst/>
          </a:prstGeom>
          <a:solidFill>
            <a:srgbClr val="131C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AI Assistant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67328" y="2606040"/>
            <a:ext cx="40233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933688" y="2606040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767328" y="3264408"/>
            <a:ext cx="40233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933688" y="3264408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767328" y="3922776"/>
            <a:ext cx="40233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933688" y="3922776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767328" y="4581144"/>
            <a:ext cx="40233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933688" y="4581144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767328" y="5239512"/>
            <a:ext cx="40233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933688" y="5239512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767328" y="5897880"/>
            <a:ext cx="40233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933688" y="5897880"/>
            <a:ext cx="54864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ALERT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Alert Ingestion &amp; AI RCA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From Prometheus firing to actionable AI remediation in one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3200400"/>
            <a:ext cx="1389888" cy="1005840"/>
          </a:xfrm>
          <a:prstGeom prst="rect">
            <a:avLst/>
          </a:prstGeom>
          <a:solidFill>
            <a:srgbClr val="131C2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3200400"/>
            <a:ext cx="138988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" y="3291840"/>
            <a:ext cx="124358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1
Prometheus
FIRING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9344" y="3666744"/>
            <a:ext cx="146304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55648" y="3200400"/>
            <a:ext cx="1389888" cy="1005840"/>
          </a:xfrm>
          <a:prstGeom prst="rect">
            <a:avLst/>
          </a:prstGeom>
          <a:solidFill>
            <a:srgbClr val="131C2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55648" y="3200400"/>
            <a:ext cx="1389888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3291840"/>
            <a:ext cx="124358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2
Alertmanager
Webhook POST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3666744"/>
            <a:ext cx="146304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28416" y="3200400"/>
            <a:ext cx="1389888" cy="1005840"/>
          </a:xfrm>
          <a:prstGeom prst="rect">
            <a:avLst/>
          </a:prstGeom>
          <a:solidFill>
            <a:srgbClr val="131C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28416" y="3200400"/>
            <a:ext cx="138988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1568" y="3291840"/>
            <a:ext cx="124358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3
/genai/alerts
/ingest/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666744"/>
            <a:ext cx="146304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01184" y="3200400"/>
            <a:ext cx="1389888" cy="1005840"/>
          </a:xfrm>
          <a:prstGeom prst="rect">
            <a:avLst/>
          </a:prstGeom>
          <a:solidFill>
            <a:srgbClr val="131C2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01184" y="3200400"/>
            <a:ext cx="138988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74336" y="3291840"/>
            <a:ext cx="124358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4
Normalize
Payload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3666744"/>
            <a:ext cx="146304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73952" y="3200400"/>
            <a:ext cx="1389888" cy="1005840"/>
          </a:xfrm>
          <a:prstGeom prst="rect">
            <a:avLst/>
          </a:prstGeom>
          <a:solidFill>
            <a:srgbClr val="131C2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73952" y="3200400"/>
            <a:ext cx="1389888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47104" y="3291840"/>
            <a:ext cx="12435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A855F7"/>
                </a:solidFill>
              </a:rPr>
              <a:t>5
</a:t>
            </a:r>
            <a:r>
              <a:rPr lang="en-US" sz="1000" b="1" i="0" dirty="0">
                <a:solidFill>
                  <a:srgbClr val="A855F7"/>
                </a:solidFill>
              </a:rPr>
              <a:t>LLM</a:t>
            </a:r>
            <a:r>
              <a:rPr sz="1000" b="1" i="0" dirty="0">
                <a:solidFill>
                  <a:srgbClr val="A855F7"/>
                </a:solidFill>
              </a:rPr>
              <a:t> 
RCA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0416" y="3666744"/>
            <a:ext cx="146304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200400"/>
            <a:ext cx="1389888" cy="1005840"/>
          </a:xfrm>
          <a:prstGeom prst="rect">
            <a:avLst/>
          </a:prstGeom>
          <a:solidFill>
            <a:srgbClr val="131C2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3200400"/>
            <a:ext cx="138988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19872" y="3291840"/>
            <a:ext cx="124358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6
Store in Redis
Cache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3666744"/>
            <a:ext cx="146304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19488" y="3200400"/>
            <a:ext cx="1389888" cy="1005840"/>
          </a:xfrm>
          <a:prstGeom prst="rect">
            <a:avLst/>
          </a:prstGeom>
          <a:solidFill>
            <a:srgbClr val="131C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19488" y="3200400"/>
            <a:ext cx="138988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92640" y="3291840"/>
            <a:ext cx="124358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7
Frontend
poll /recent/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RESOLVED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4754880"/>
            <a:ext cx="2377440" cy="82296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4846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Alertmanager
resolved webhook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78608" y="5102352"/>
            <a:ext cx="1828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88920" y="4754880"/>
            <a:ext cx="2377440" cy="822960"/>
          </a:xfrm>
          <a:prstGeom prst="rect">
            <a:avLst/>
          </a:prstGeom>
          <a:solidFill>
            <a:srgbClr val="131C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80360" y="4846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_remove_by_identity()
fallback: name-only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4648" y="5102352"/>
            <a:ext cx="1828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94960" y="4754880"/>
            <a:ext cx="2377440" cy="82296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0" y="4846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Cache entry
evicted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90688" y="5102352"/>
            <a:ext cx="1828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01000" y="4754880"/>
            <a:ext cx="2377440" cy="822960"/>
          </a:xfrm>
          <a:prstGeom prst="rect">
            <a:avLst/>
          </a:prstGeom>
          <a:solidFill>
            <a:srgbClr val="131C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92440" y="4846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</a:rPr>
              <a:t>Frontend shows
no active alert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</a:rPr>
              <a:t>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AI-Guided Diagnosis &amp;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0" dirty="0">
                <a:solidFill>
                  <a:srgbClr val="CBD5E1"/>
                </a:solidFill>
              </a:rPr>
              <a:t>LLM</a:t>
            </a:r>
            <a:r>
              <a:rPr sz="1500" b="0" i="0" dirty="0">
                <a:solidFill>
                  <a:srgbClr val="CBD5E1"/>
                </a:solidFill>
              </a:rPr>
              <a:t> LLM drives root cause analysis, diagnostic commands, and remediation planning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920240"/>
            <a:ext cx="3655313" cy="2011680"/>
          </a:xfrm>
          <a:prstGeom prst="rect">
            <a:avLst/>
          </a:prstGeom>
          <a:solidFill>
            <a:srgbClr val="131C2B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3655313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" y="2057400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" y="20574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296951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 Context
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38099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Prometheus metrics
Elasticsearch logs
Jaeger traces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39" y="1920240"/>
            <a:ext cx="3655313" cy="2011680"/>
          </a:xfrm>
          <a:prstGeom prst="rect">
            <a:avLst/>
          </a:prstGeom>
          <a:solidFill>
            <a:srgbClr val="131C2B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39" y="1920240"/>
            <a:ext cx="3655313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7" y="2057400"/>
            <a:ext cx="347472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7" y="20574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057400"/>
            <a:ext cx="296951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</a:rPr>
              <a:t>LLM</a:t>
            </a: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sz="1300" b="1" i="0" dirty="0">
                <a:solidFill>
                  <a:srgbClr val="FFFFFF"/>
                </a:solidFill>
              </a:rPr>
              <a:t>RCA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2606040"/>
            <a:ext cx="338099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Structured prompt:
Alert + metrics + logs
→ JSON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8" y="1920240"/>
            <a:ext cx="3655313" cy="2011680"/>
          </a:xfrm>
          <a:prstGeom prst="rect">
            <a:avLst/>
          </a:prstGeom>
          <a:solidFill>
            <a:srgbClr val="131C2B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8" y="1920240"/>
            <a:ext cx="3655313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93606" y="205740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3606" y="20574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18" y="2057400"/>
            <a:ext cx="296951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Diagnostic Plan
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8" y="2606040"/>
            <a:ext cx="338099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root_cause · evidence
impact · resolution
remediation_cmd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160520"/>
            <a:ext cx="3655313" cy="2011680"/>
          </a:xfrm>
          <a:prstGeom prst="rect">
            <a:avLst/>
          </a:prstGeom>
          <a:solidFill>
            <a:srgbClr val="131C2B"/>
          </a:solidFill>
          <a:ln w="228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4160520"/>
            <a:ext cx="3655313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8328" y="4297680"/>
            <a:ext cx="34747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" y="4297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97680"/>
            <a:ext cx="296951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Command
Delegation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846320"/>
            <a:ext cx="338099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DB-agent or
Control-agent
over HTTP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39" y="4160520"/>
            <a:ext cx="3655313" cy="2011680"/>
          </a:xfrm>
          <a:prstGeom prst="rect">
            <a:avLst/>
          </a:prstGeom>
          <a:solidFill>
            <a:srgbClr val="131C2B"/>
          </a:solidFill>
          <a:ln w="228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06239" y="4160520"/>
            <a:ext cx="3655313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15967" y="4297680"/>
            <a:ext cx="34747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15967" y="4297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4297680"/>
            <a:ext cx="296951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
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399" y="4846320"/>
            <a:ext cx="338099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Post-command
AI analysis call
→ final_answer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8" y="4160520"/>
            <a:ext cx="3655313" cy="2011680"/>
          </a:xfrm>
          <a:prstGeom prst="rect">
            <a:avLst/>
          </a:prstGeom>
          <a:solidFill>
            <a:srgbClr val="131C2B"/>
          </a:solidFill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83878" y="4160520"/>
            <a:ext cx="3655313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93606" y="4297680"/>
            <a:ext cx="347472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93606" y="4297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18" y="4297680"/>
            <a:ext cx="296951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Incident
Correlation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38" y="4846320"/>
            <a:ext cx="3380993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Auto-create/update
Incident + Timeline
Blast radius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" y="6400800"/>
            <a:ext cx="1179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64748B"/>
                </a:solidFill>
              </a:rPr>
              <a:t>Dual </a:t>
            </a:r>
            <a:r>
              <a:rPr lang="en-US" sz="1000" b="0" i="1" dirty="0">
                <a:solidFill>
                  <a:srgbClr val="64748B"/>
                </a:solidFill>
              </a:rPr>
              <a:t>LLM</a:t>
            </a:r>
            <a:r>
              <a:rPr sz="1000" b="0" i="1" dirty="0">
                <a:solidFill>
                  <a:srgbClr val="64748B"/>
                </a:solidFill>
              </a:rPr>
              <a:t> endpoint support (primary + secondary) with retry/backoff and SSL toggle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INCIDENT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Incident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Auto-correlated incidents with timeline, graph topology, and blast radius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Incident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286000"/>
            <a:ext cx="164592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359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incident_key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359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UUID — unique incident identifier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834640"/>
            <a:ext cx="16459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907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07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open · investigating · resolved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383280"/>
            <a:ext cx="16459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456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456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critical · warning · info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931920"/>
            <a:ext cx="164592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40050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target_host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005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Affected service/host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480560"/>
            <a:ext cx="164592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4553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blast_radius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553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List of downstream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029200"/>
            <a:ext cx="164592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51023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dependency_graph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1023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Topology JSON snapshot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577840"/>
            <a:ext cx="164592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5650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650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Ordered IncidentTimelineEvent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Incident Lifecycle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28600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0" y="23317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Alert Fires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606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Alertmanager sends resolved/firing webhook to /genai/alerts/ingest/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761488"/>
            <a:ext cx="73152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43600" y="3127248"/>
            <a:ext cx="4572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0" y="31729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127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Incident Created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4472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_correlate_alert_to_incident() — dedup by fingerprint, create or reuse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602736"/>
            <a:ext cx="73152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43600" y="3968496"/>
            <a:ext cx="45720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0" y="401421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968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AI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288536"/>
            <a:ext cx="5394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CBD5E1"/>
                </a:solidFill>
              </a:rPr>
              <a:t>collect_alert_context</a:t>
            </a:r>
            <a:r>
              <a:rPr sz="1000" b="0" i="0" dirty="0">
                <a:solidFill>
                  <a:srgbClr val="CBD5E1"/>
                </a:solidFill>
              </a:rPr>
              <a:t>() → </a:t>
            </a:r>
            <a:r>
              <a:rPr lang="en-US" sz="1000" b="0" i="0" dirty="0">
                <a:solidFill>
                  <a:srgbClr val="CBD5E1"/>
                </a:solidFill>
              </a:rPr>
              <a:t>LLM</a:t>
            </a:r>
            <a:r>
              <a:rPr sz="1000" b="0" i="0" dirty="0">
                <a:solidFill>
                  <a:srgbClr val="CBD5E1"/>
                </a:solidFill>
              </a:rPr>
              <a:t> RCA → diagnostic plan extracted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4443984"/>
            <a:ext cx="73152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943600" y="4809744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0" y="485546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809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Timeline Events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12978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IncidentTimelineEvent records each command + analysis step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285232"/>
            <a:ext cx="73152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43600" y="5650992"/>
            <a:ext cx="45720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0" y="569671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650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Resolution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9710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Status → resolved, resolved_at stamped, cache entry evicted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</a:rPr>
              <a:t>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Graph-Driven Topology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Application dependency graphs, incident blast-radius maps, and service risk overlays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40680" y="3547872"/>
            <a:ext cx="1188720" cy="5852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584448"/>
            <a:ext cx="1097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INCIDENT
EPICENTER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965960"/>
            <a:ext cx="1005840" cy="457200"/>
          </a:xfrm>
          <a:prstGeom prst="rect">
            <a:avLst/>
          </a:prstGeom>
          <a:solidFill>
            <a:srgbClr val="13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3611880"/>
            <a:ext cx="1005840" cy="457200"/>
          </a:xfrm>
          <a:prstGeom prst="rect">
            <a:avLst/>
          </a:prstGeom>
          <a:solidFill>
            <a:srgbClr val="131C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</a:rPr>
              <a:t>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5074920"/>
            <a:ext cx="1005840" cy="457200"/>
          </a:xfrm>
          <a:prstGeom prst="rect">
            <a:avLst/>
          </a:prstGeom>
          <a:solidFill>
            <a:srgbClr val="131C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</a:rPr>
              <a:t>app-orders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5074920"/>
            <a:ext cx="1005840" cy="457200"/>
          </a:xfrm>
          <a:prstGeom prst="rect">
            <a:avLst/>
          </a:prstGeom>
          <a:solidFill>
            <a:srgbClr val="131C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</a:rPr>
              <a:t>app-inventory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3611880"/>
            <a:ext cx="1005840" cy="457200"/>
          </a:xfrm>
          <a:prstGeom prst="rect">
            <a:avLst/>
          </a:prstGeom>
          <a:solidFill>
            <a:srgbClr val="131C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</a:rPr>
              <a:t>app-billing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1965960"/>
            <a:ext cx="1005840" cy="45720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postgres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1600200"/>
            <a:ext cx="1005840" cy="45720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redis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5852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Nodes carry: status · risk_score · ai_insight · depends_on · dependents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6263640"/>
            <a:ext cx="201168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" y="6263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Epicenter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626364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87752" y="6263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Edge 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6263640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90872" y="6263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Gateway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6263640"/>
            <a:ext cx="201168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93992" y="6263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Microservice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6263640"/>
            <a:ext cx="20116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97112" y="6263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Data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Graph Types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377440"/>
            <a:ext cx="2697480" cy="914400"/>
          </a:xfrm>
          <a:prstGeom prst="rect">
            <a:avLst/>
          </a:prstGeom>
          <a:solidFill>
            <a:srgbClr val="131C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64040" y="2468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Application Graph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27889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/graph/application/:key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3474720"/>
            <a:ext cx="2697480" cy="914400"/>
          </a:xfrm>
          <a:prstGeom prst="rect">
            <a:avLst/>
          </a:prstGeom>
          <a:solidFill>
            <a:srgbClr val="13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64040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Incident Graph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38862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/graph/incident/:key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4572000"/>
            <a:ext cx="2697480" cy="914400"/>
          </a:xfrm>
          <a:prstGeom prst="rect">
            <a:avLst/>
          </a:prstGeom>
          <a:solidFill>
            <a:srgbClr val="13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64040" y="4663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Alert Graph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4983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/graph/:alertId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PREDICTIVE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Predictive Incident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Forward-looking risk scoring with per-service health windows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920240"/>
            <a:ext cx="5669280" cy="1188720"/>
          </a:xfrm>
          <a:prstGeom prst="rect">
            <a:avLst/>
          </a:prstGeom>
          <a:solidFill>
            <a:srgbClr val="13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56692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Risk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0.0 – 1.0 float per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920240"/>
            <a:ext cx="5669280" cy="1188720"/>
          </a:xfrm>
          <a:prstGeom prst="rect">
            <a:avLst/>
          </a:prstGeom>
          <a:solidFill>
            <a:srgbClr val="13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5669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057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Incident 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231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% chance in next 15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291840"/>
            <a:ext cx="5669280" cy="1188720"/>
          </a:xfrm>
          <a:prstGeom prst="rect">
            <a:avLst/>
          </a:prstGeom>
          <a:solidFill>
            <a:srgbClr val="131C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3291840"/>
            <a:ext cx="56692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429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Service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794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healthy · at-risk · degraded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291840"/>
            <a:ext cx="5669280" cy="1188720"/>
          </a:xfrm>
          <a:prstGeom prst="rect">
            <a:avLst/>
          </a:prstGeom>
          <a:solidFill>
            <a:srgbClr val="131C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291840"/>
            <a:ext cx="566928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429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Model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94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heuristic-v1 (ML-ready schema)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663440"/>
            <a:ext cx="5669280" cy="1188720"/>
          </a:xfrm>
          <a:prstGeom prst="rect">
            <a:avLst/>
          </a:prstGeom>
          <a:solidFill>
            <a:srgbClr val="131C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" y="4663440"/>
            <a:ext cx="56692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Blast Radius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166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Downstream services that will be hit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663440"/>
            <a:ext cx="5669280" cy="118872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4663440"/>
            <a:ext cx="566928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Explanation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166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Human-readable risk reason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63093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ServicePrediction and PredictionSnapshot models — ready to swap heuristic scorer with ML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FLEET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Linux Fleet Onboarding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SSH + PEM automated install with telemetry profile selection and enrollment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" y="2057400"/>
            <a:ext cx="1572768" cy="1554480"/>
          </a:xfrm>
          <a:prstGeom prst="rect">
            <a:avLst/>
          </a:prstGeom>
          <a:solidFill>
            <a:srgbClr val="131C2B"/>
          </a:solidFill>
          <a:ln w="228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" y="2057400"/>
            <a:ext cx="1572768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25880" y="2167128"/>
            <a:ext cx="292608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2167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221992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Phase 1
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715768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Operator selects
target type + profile
in Enroll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9072" y="2798064"/>
            <a:ext cx="914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19656" y="2057400"/>
            <a:ext cx="1572768" cy="1554480"/>
          </a:xfrm>
          <a:prstGeom prst="rect">
            <a:avLst/>
          </a:prstGeom>
          <a:solidFill>
            <a:srgbClr val="131C2B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19656" y="2057400"/>
            <a:ext cx="1572768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08376" y="2167128"/>
            <a:ext cx="292608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08376" y="2167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096" y="2221992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Token
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1096" y="2715768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Backend generates
EnrollmentToken
(24h expiry)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01568" y="2798064"/>
            <a:ext cx="914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02152" y="2057400"/>
            <a:ext cx="1572768" cy="1554480"/>
          </a:xfrm>
          <a:prstGeom prst="rect">
            <a:avLst/>
          </a:prstGeom>
          <a:solidFill>
            <a:srgbClr val="131C2B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02152" y="2057400"/>
            <a:ext cx="157276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90872" y="2167128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90872" y="2167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2221992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Install
Blueprint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2715768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One-liner curl install
command shown
to operator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4064" y="2798064"/>
            <a:ext cx="91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84648" y="2057400"/>
            <a:ext cx="1572768" cy="1554480"/>
          </a:xfrm>
          <a:prstGeom prst="rect">
            <a:avLst/>
          </a:prstGeom>
          <a:solidFill>
            <a:srgbClr val="131C2B"/>
          </a:solidFill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84648" y="2057400"/>
            <a:ext cx="1572768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73368" y="2167128"/>
            <a:ext cx="292608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73368" y="2167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2221992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Connectivity
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6088" y="2715768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SSH connectivity
test via PEM
(pre-flight check)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798064"/>
            <a:ext cx="91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67144" y="2057400"/>
            <a:ext cx="1572768" cy="1554480"/>
          </a:xfrm>
          <a:prstGeom prst="rect">
            <a:avLst/>
          </a:prstGeom>
          <a:solidFill>
            <a:srgbClr val="131C2B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867144" y="2057400"/>
            <a:ext cx="1572768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55864" y="2167128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55864" y="2167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8584" y="2221992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</a:rPr>
              <a:t>Automated
Install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8584" y="2715768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Remote install
triggered over SSH:
collectors + exporters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49056" y="2798064"/>
            <a:ext cx="914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49640" y="2057400"/>
            <a:ext cx="1572768" cy="1554480"/>
          </a:xfrm>
          <a:prstGeom prst="rect">
            <a:avLst/>
          </a:prstGeom>
          <a:solidFill>
            <a:srgbClr val="131C2B"/>
          </a:solidFill>
          <a:ln w="228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49640" y="2057400"/>
            <a:ext cx="1572768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738360" y="2167128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38360" y="2167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2221992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Self-
Registration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2715768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Agent calls
/fleet/enroll/
with token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31552" y="2798064"/>
            <a:ext cx="914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232136" y="2057400"/>
            <a:ext cx="1572768" cy="1554480"/>
          </a:xfrm>
          <a:prstGeom prst="rect">
            <a:avLst/>
          </a:prstGeom>
          <a:solidFill>
            <a:srgbClr val="131C2B"/>
          </a:solidFill>
          <a:ln w="228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232136" y="2057400"/>
            <a:ext cx="1572768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1420856" y="2167128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420856" y="2167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23576" y="2221992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Ongoing
Heartbeat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23576" y="2715768"/>
            <a:ext cx="1435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Heartbeats → target
status + discovered
services update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Fleet Models Introduced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4251960"/>
            <a:ext cx="141732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01752" y="430682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TelemetryProfile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37360" y="430682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Install bundle definition (components + capabilities)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39" y="4251960"/>
            <a:ext cx="141732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79391" y="430682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4999" y="430682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Enrolled host with status, heartbeat, and discovered services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78" y="4251960"/>
            <a:ext cx="14173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57030" y="430682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EnrollmentToken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38" y="430682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Short-lived bootstrap token with expiry + revocation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818888"/>
            <a:ext cx="141732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01752" y="487375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TargetOnboardingRequest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37360" y="48737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SSH-based install request with connectivity test + install trigger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39" y="4818888"/>
            <a:ext cx="141732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79391" y="487375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TargetComponent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14999" y="48737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Per-collector/exporter status on each target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83878" y="4818888"/>
            <a:ext cx="1417320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57030" y="487375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TargetHeartbeat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38" y="48737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Raw heartbeat payloads from enrolled agents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8600" y="5385816"/>
            <a:ext cx="14173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01752" y="544068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DiscoveredService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37360" y="5440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Services auto-discovered by the control agent on each host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React Control Plane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9-page React + Vite SPA with dark/light theme, animated transitions, and live refresh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920240"/>
            <a:ext cx="3749039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92024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2029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/applications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267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33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Portfolio view — live service health + AI insight per component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19" y="1920240"/>
            <a:ext cx="3749039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19" y="1920240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0247" y="2029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/alerts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7" y="2267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7" y="2633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Recent alert recommendations from Redis cache — AI diagnosis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8" y="1920240"/>
            <a:ext cx="3749039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58" y="192024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6" y="2029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/incidents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6" y="2267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Incidents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6" y="2633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Incident timeline, graph, blast radius, and RCA 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383280"/>
            <a:ext cx="3749039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2880" y="3383280"/>
            <a:ext cx="3749039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" y="3493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/predictions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3730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Predictions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" y="40965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Risk score + incident probability per 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19" y="3383280"/>
            <a:ext cx="3749039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19" y="3383280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0247" y="3493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/assistant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7" y="3730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7" y="40965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Multi-turn AI chat with session history and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58" y="3383280"/>
            <a:ext cx="3749039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58" y="3383280"/>
            <a:ext cx="3749039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47886" y="3493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/fleet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6" y="3730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Fleet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6" y="40965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Enrolled targets, heartbeat status, discovered services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846320"/>
            <a:ext cx="3749039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82880" y="48463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2608" y="4956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/enroll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51937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Enroll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" y="55595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SSH + PEM onboarding wizard with profile selection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19" y="4846320"/>
            <a:ext cx="3749039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60519" y="484632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70247" y="4956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/profiles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7" y="51937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Profiles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0247" y="55595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Telemetry profile browser with components + capabilities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58" y="4846320"/>
            <a:ext cx="3749039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58" y="4846320"/>
            <a:ext cx="3749039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47886" y="4956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/graph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6" y="51937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Graph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6" y="55595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Application / incident / alert topology with dependency edges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" y="640080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Tech: React 18 · TypeScript · TanStack Query · React Router v6 · Framer Motion · Vite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Production-grade open-source components — fully containerised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920240"/>
            <a:ext cx="3749039" cy="2148840"/>
          </a:xfrm>
          <a:prstGeom prst="rect">
            <a:avLst/>
          </a:prstGeom>
          <a:solidFill>
            <a:srgbClr val="131C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920240"/>
            <a:ext cx="3749039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9751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Python 3 · Django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5234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Gunicorn WSGI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815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Celery workers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1071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Django Cache (Redis)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3989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psycopg2 + ORM migrations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19" y="1920240"/>
            <a:ext cx="3749039" cy="2148840"/>
          </a:xfrm>
          <a:prstGeom prst="rect">
            <a:avLst/>
          </a:prstGeom>
          <a:solidFill>
            <a:srgbClr val="131C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0519" y="1920240"/>
            <a:ext cx="3749039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19751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242316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React 18 + TypeScript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275234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Vite build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30815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TanStack Query v5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341071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React Router v6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373989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Framer Motion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58" y="1920240"/>
            <a:ext cx="3749039" cy="2148840"/>
          </a:xfrm>
          <a:prstGeom prst="rect">
            <a:avLst/>
          </a:prstGeom>
          <a:solidFill>
            <a:srgbClr val="131C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58" y="1920240"/>
            <a:ext cx="3749039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18" y="19751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8" y="242316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Prometheus + Alertmanager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275234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OpenTelemetry Collector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30815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Jaeger (traces)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8" y="341071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Elasticsearch + Filebeat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373989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Grafana dashboards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206240"/>
            <a:ext cx="3749039" cy="214884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2880" y="4206240"/>
            <a:ext cx="3749039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42611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Infra / DevOps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70916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Docker + Compose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03834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PostgreSQL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3675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Redis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69671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Nginx (frontend + gateway)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02589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Toxiproxy (chaos testing)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19" y="4206240"/>
            <a:ext cx="3749039" cy="2148840"/>
          </a:xfrm>
          <a:prstGeom prst="rect">
            <a:avLst/>
          </a:prstGeom>
          <a:solidFill>
            <a:srgbClr val="13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60519" y="4206240"/>
            <a:ext cx="3749039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97679" y="42611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399" y="4709160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BD5E1"/>
                </a:solidFill>
              </a:rPr>
              <a:t>• </a:t>
            </a:r>
            <a:r>
              <a:rPr lang="en-US" sz="1000" b="0" i="0" dirty="0">
                <a:solidFill>
                  <a:srgbClr val="CBD5E1"/>
                </a:solidFill>
              </a:rPr>
              <a:t>LLM</a:t>
            </a:r>
            <a:r>
              <a:rPr sz="1000" b="0" i="0" dirty="0">
                <a:solidFill>
                  <a:srgbClr val="CBD5E1"/>
                </a:solidFill>
              </a:rPr>
              <a:t> LLM API (primary)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399" y="5038344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BD5E1"/>
                </a:solidFill>
              </a:rPr>
              <a:t>• </a:t>
            </a:r>
            <a:r>
              <a:rPr lang="en-US" sz="1000" b="0" i="0" dirty="0">
                <a:solidFill>
                  <a:srgbClr val="CBD5E1"/>
                </a:solidFill>
              </a:rPr>
              <a:t>LLM</a:t>
            </a:r>
            <a:r>
              <a:rPr sz="1000" b="0" i="0" dirty="0">
                <a:solidFill>
                  <a:srgbClr val="CBD5E1"/>
                </a:solidFill>
              </a:rPr>
              <a:t> secondary endpoint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399" y="53675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Retry + backoff adapter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399" y="569671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Structured JSON prompts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399" y="602589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better-profanity filter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58" y="4206240"/>
            <a:ext cx="3749039" cy="2148840"/>
          </a:xfrm>
          <a:prstGeom prst="rect">
            <a:avLst/>
          </a:prstGeom>
          <a:solidFill>
            <a:srgbClr val="13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58" y="4206240"/>
            <a:ext cx="3749039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75318" y="42611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38" y="470916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db-agent (DB commands)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38" y="503834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control-agent (SSH / OS)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38" y="53675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Token auth (AGENT_SECRET)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38" y="569671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Allowed-commands JSON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38" y="602589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• Fleet heartbeat receiver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Security &amp; Repo Hygiene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Secrets removed from git history — .env-based configuration enforced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920240"/>
            <a:ext cx="5760720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" y="2048256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2011680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Secrets Removed from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95728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BD5E1"/>
                </a:solidFill>
              </a:rPr>
              <a:t>git filter-branch stripped GOOGLE_CLIENT_ID, GOOGLE_CLIENT_SECRET, </a:t>
            </a:r>
            <a:r>
              <a:rPr lang="en-US" sz="1000" b="0" i="0" dirty="0">
                <a:solidFill>
                  <a:srgbClr val="CBD5E1"/>
                </a:solidFill>
              </a:rPr>
              <a:t>LLM</a:t>
            </a:r>
            <a:r>
              <a:rPr sz="1000" b="0" i="0" dirty="0">
                <a:solidFill>
                  <a:srgbClr val="CBD5E1"/>
                </a:solidFill>
              </a:rPr>
              <a:t>_API_KEY from all commits. Force-pushed clean main.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5760720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81928" y="2048256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1928" y="2011680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docker-compose.yml Sanitised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9572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All credentials replaced with ${ENV_VAR} references. Defaults are empty or safe placeholders.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383280"/>
            <a:ext cx="5760720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2608" y="3511296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3474720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.env Pattern Added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587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.env.example provides the full template. .gitignore ensures .env is never committed.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383280"/>
            <a:ext cx="5760720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81928" y="3511296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3474720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474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Agent Token 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8587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db-agent and control-agent require AGENT_AUTH_TOKEN header on every command request.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846320"/>
            <a:ext cx="5760720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92608" y="4974336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" y="4937760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937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SSO Middleware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32180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HeaderSSOAuthMiddleware wraps every request. SSO_ENABLED toggle in settings.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846320"/>
            <a:ext cx="5760720" cy="1325880"/>
          </a:xfrm>
          <a:prstGeom prst="rect">
            <a:avLst/>
          </a:prstGeom>
          <a:solidFill>
            <a:srgbClr val="13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81928" y="4974336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81928" y="4937760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937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Allowed-Commands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32180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Each agent has a JSON allowlist — arbitrary command execution is not permitted.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6793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98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Phased evolution from Phase 1 foundation to full autonomous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737360"/>
            <a:ext cx="11795760" cy="27432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920240"/>
            <a:ext cx="3749039" cy="4572000"/>
          </a:xfrm>
          <a:prstGeom prst="rect">
            <a:avLst/>
          </a:prstGeom>
          <a:solidFill>
            <a:srgbClr val="131C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3749039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993392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</a:rPr>
              <a:t>Phase 2</a:t>
            </a:r>
            <a:r>
              <a:rPr lang="en-US" sz="1500" b="1" i="0" dirty="0">
                <a:solidFill>
                  <a:srgbClr val="FFFFFF"/>
                </a:solidFill>
              </a:rPr>
              <a:t> </a:t>
            </a:r>
            <a:r>
              <a:rPr sz="1500" b="1" i="0" dirty="0">
                <a:solidFill>
                  <a:srgbClr val="FFFFFF"/>
                </a:solidFill>
              </a:rPr>
              <a:t>(Near-term)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51760"/>
            <a:ext cx="109728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Complete Linux installer + OTEL agent 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83280"/>
            <a:ext cx="109728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Stable public deployment + onboarding 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114800"/>
            <a:ext cx="109728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411480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BD5E1"/>
                </a:solidFill>
              </a:rPr>
              <a:t>Run pending DB migrations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846320"/>
            <a:ext cx="109728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Fix pip requirements hash for clean builds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577840"/>
            <a:ext cx="109728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5577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Commit agent/ + migration files to main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39" y="1920240"/>
            <a:ext cx="3749039" cy="4572000"/>
          </a:xfrm>
          <a:prstGeom prst="rect">
            <a:avLst/>
          </a:prstGeom>
          <a:solidFill>
            <a:srgbClr val="131C2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06239" y="1920240"/>
            <a:ext cx="3749039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399" y="1993392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</a:rPr>
              <a:t>Phase 3</a:t>
            </a:r>
            <a:r>
              <a:rPr lang="en-US" sz="1500" b="1" i="0" dirty="0">
                <a:solidFill>
                  <a:srgbClr val="FFFFFF"/>
                </a:solidFill>
              </a:rPr>
              <a:t> </a:t>
            </a:r>
            <a:r>
              <a:rPr sz="1500" b="1" i="0" dirty="0">
                <a:solidFill>
                  <a:srgbClr val="FFFFFF"/>
                </a:solidFill>
              </a:rPr>
              <a:t>(Mid-term)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19" y="2651760"/>
            <a:ext cx="109728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7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Auto-generate topology from traces + discovery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19" y="3383280"/>
            <a:ext cx="109728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0287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Periodic Prometheus reconciliation for cache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19" y="4114800"/>
            <a:ext cx="109728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7" y="4114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Extend onboarding to Windows + Kubernetes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19" y="4846320"/>
            <a:ext cx="109728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0287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MCP-based telemetry and tool access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19" y="5577840"/>
            <a:ext cx="109728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0287" y="5577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ML model to replace heuristic risk scorer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8" y="1920240"/>
            <a:ext cx="3749039" cy="4572000"/>
          </a:xfrm>
          <a:prstGeom prst="rect">
            <a:avLst/>
          </a:prstGeom>
          <a:solidFill>
            <a:srgbClr val="131C2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78" y="1920240"/>
            <a:ext cx="3749039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38" y="1993392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</a:rPr>
              <a:t>Phase 4</a:t>
            </a:r>
            <a:r>
              <a:rPr lang="en-US" sz="1500" b="1" i="0" dirty="0">
                <a:solidFill>
                  <a:srgbClr val="FFFFFF"/>
                </a:solidFill>
              </a:rPr>
              <a:t> </a:t>
            </a:r>
            <a:r>
              <a:rPr sz="1500" b="1" i="0" dirty="0">
                <a:solidFill>
                  <a:srgbClr val="FFFFFF"/>
                </a:solidFill>
              </a:rPr>
              <a:t>(Strategic)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58" y="2651760"/>
            <a:ext cx="109728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67926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Approval-driven remediation workflows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58" y="3383280"/>
            <a:ext cx="109728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67926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Multi-tenant fleet isolation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58" y="4114800"/>
            <a:ext cx="109728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67926" y="4114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Real-time streaming topology (WebSocket)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58" y="4846320"/>
            <a:ext cx="109728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67926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Feedback loop — remediation outcome → model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58" y="5577840"/>
            <a:ext cx="109728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67926" y="5577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SLA / SLO tracking per service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3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3B82F6"/>
                </a:solidFill>
              </a:rPr>
              <a:t>AIOps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Phase 1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Built · Deployed · Verified · Secured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371600"/>
            <a:ext cx="169164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46304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  React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49840" y="1371600"/>
            <a:ext cx="1691640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0" y="146304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40+ backend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240280"/>
            <a:ext cx="1691640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 new fleet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2240280"/>
            <a:ext cx="1691640" cy="6583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0" y="233172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RCA + remediation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108960"/>
            <a:ext cx="169164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Secrets purged from git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3108960"/>
            <a:ext cx="1691640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0" y="320040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Fleet onboarding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B6D4"/>
                </a:solidFill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April 2026  ·  AIOps Observability Control Plane  ·  Phase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1506</Words>
  <Application>Microsoft Macintosh PowerPoint</Application>
  <PresentationFormat>Custom</PresentationFormat>
  <Paragraphs>324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Kusal</cp:lastModifiedBy>
  <cp:revision>13</cp:revision>
  <dcterms:created xsi:type="dcterms:W3CDTF">2013-01-27T09:14:16Z</dcterms:created>
  <dcterms:modified xsi:type="dcterms:W3CDTF">2026-04-03T06:58:07Z</dcterms:modified>
  <cp:category/>
</cp:coreProperties>
</file>